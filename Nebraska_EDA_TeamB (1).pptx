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Poverty Students</c:v>
                </c:pt>
              </c:strCache>
            </c:strRef>
          </c:tx>
          <c:spPr>
            <a:solidFill>
              <a:srgbClr val="C830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10+ Days Absent</c:v>
                </c:pt>
                <c:pt idx="1">
                  <c:v>20+ Days Absent</c:v>
                </c:pt>
                <c:pt idx="2">
                  <c:v>Chronically Absent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</c:v>
                </c:pt>
                <c:pt idx="1">
                  <c:v>25.3</c:v>
                </c:pt>
                <c:pt idx="2">
                  <c:v>34.700000000000003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7-406C-BAD7-2F1DA910BD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Non-Poverty Students</c:v>
                </c:pt>
              </c:strCache>
            </c:strRef>
          </c:tx>
          <c:spPr>
            <a:solidFill>
              <a:srgbClr val="2D7D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10+ Days Absent</c:v>
                </c:pt>
                <c:pt idx="1">
                  <c:v>20+ Days Absent</c:v>
                </c:pt>
                <c:pt idx="2">
                  <c:v>Chronically Absent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27.5</c:v>
                </c:pt>
                <c:pt idx="1">
                  <c:v>7.8</c:v>
                </c:pt>
                <c:pt idx="2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77-406C-BAD7-2F1DA910BD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FA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0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11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Analyzing Chronic Absenteeism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Nebraska K–12 Schools  |  2020–2021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</a:t>
            </a:r>
            <a:r>
              <a:rPr lang="en-US" sz="13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DSCI 8950 – Capstone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Purnekar   ·   Abhinav Adhikari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633472" cy="102412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263347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2633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306,623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337560"/>
            <a:ext cx="2633472" cy="102412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4408" y="3337560"/>
            <a:ext cx="263347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64408" y="3419856"/>
            <a:ext cx="2633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63,958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64408" y="39502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Absent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3337560"/>
            <a:ext cx="2633472" cy="102412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1616" y="3337560"/>
            <a:ext cx="2633472" cy="54864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71616" y="3419856"/>
            <a:ext cx="2633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20.9%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71616" y="39502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90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Department of Education  |  nde.ne.gov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Roadmap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724912" cy="153619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72491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team &amp; research questions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1261872"/>
            <a:ext cx="2724912" cy="153619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9272" y="1261872"/>
            <a:ext cx="2724912" cy="5486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135331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9272" y="18470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9272" y="221284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structure &amp; variables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261872"/>
            <a:ext cx="2724912" cy="153619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1261872"/>
            <a:ext cx="272491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81344" y="135331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1344" y="18470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81344" y="221284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724912" cy="153619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724912" cy="54864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351129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variable distributions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9272" y="2926080"/>
            <a:ext cx="2724912" cy="153619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19272" y="2926080"/>
            <a:ext cx="2724912" cy="54864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9272" y="30175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319272" y="351129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Analysis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19272" y="387705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Cross-variable patterns &amp; FRL relationship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2926080"/>
            <a:ext cx="2724912" cy="153619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81344" y="2926080"/>
            <a:ext cx="2724912" cy="54864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30175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81344" y="351129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Economic Impact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81344" y="387705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roadmap &amp; cost of dropouts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Chronic Absenteeism Matters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977640" cy="358444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64008" cy="358444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65760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absence = missing ≥10% of the school year (~18+ days)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linked to lower academic achievement &amp; higher dropout risk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gaps reveal structural socioeconomic disparities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drivers enables targeted, cost-efficient interventions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drop out earn ~$400K less over a lifetime (US avg)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2020–21 is a COVID-influenced baseline for future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61872"/>
            <a:ext cx="4069080" cy="358444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261872"/>
            <a:ext cx="64008" cy="35844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73168" y="1883664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8470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chronic absenteeism distributed across Nebraska K–12?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73168" y="249631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45973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patterns vary by grade level and school type?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3108960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30723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racial/ethnic groups face the highest absence rates?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73168" y="3721608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6850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FRL% (economic disadvantage) a primary driver?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73168" y="4334256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42976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absences are likely to result in dropout — and what does that cost Nebraska?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 &amp; Sources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251460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Absences by District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absenteeism.xlsx  (NDE)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697480" cy="1481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aggregate: 6 sheets. District-level absence counts by grade, race, gender, poverty. Key sheet: DISTRICT TOTAL (245 rows × 8 cols).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97480" cy="251460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97480" cy="5486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3898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FRL by District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1801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frl_district.csv  (NDE)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212848"/>
            <a:ext cx="2697480" cy="1481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 rows × 11 cols. District-level Free &amp; Reduced Lunch counts &amp; FRL%. Used as poverty proxy. Merged with absences on DISTRICT_CODE.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97480" cy="251460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974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3898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FRL by School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26480" y="1801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frl_school.xls  (NDE)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0" y="2212848"/>
            <a:ext cx="2697480" cy="1481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1,201 rows × 11 cols. School-level FRL data with SCHOOLTYPE (Elementary, Middle, High, Secondary). Used for school-type comparisons.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8229600" cy="9601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Variables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4279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CHRONIC_ABSENT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84832" y="42793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Count of students missing ≥10% of year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44622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FRL_PERCENT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84832" y="4462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 students eligible for free/reduced lunch (poverty proxy)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4645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DISTRICT_CODE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84832" y="46451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Unique district identifier — used as merge key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82312" y="42793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SCHOOLTYPE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45352" y="42793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Elementary / Middle / High / Secondary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82312" y="44622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45352" y="4462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Total enrolled per row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82312" y="4645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GRADE_CODE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45352" y="46451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Grade PK, KG, 01–12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&amp; Preprocessing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64008" cy="11887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35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Stacked Table Extraction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Excel has 5 unlabeled stacked tables — each extracted by hardcoded row index (grades 15–27, race 31–37, gender 42–43, poverty 47–48, poverty×race 53–60).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8888" y="1261872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18888" y="1261872"/>
            <a:ext cx="64008" cy="11887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335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01768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Key Creation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01768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(frl_district.csv) joined to absences on DISTRICT_CODE. Leading zeros stripped and codes normalized to 9-digit integer keys. Inner join produced 227-row merged dataset.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64008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Standardization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 names stripped, uppercased, spaces replaced with underscores. Membership CSV race codes (F_WH, M_BL…) combined into unified race totals per group.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2560320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18888" y="2560320"/>
            <a:ext cx="64008" cy="118872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01768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Conversion &amp; Rates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01768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proportions (e.g. 0.2086) multiplied ×100 for all rate columns. FRL_PERCENT converted to numeric. Masked values ('*') coerced to NaN.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858768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858768"/>
            <a:ext cx="64008" cy="1188720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" y="4334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Type Mapping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4626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GRADE_CODE strings mapped to level: Elementary (PK–5), Middle (6–8), High School (9–12). SCHOOLTYPE values (ELEMENTARY / SECONDARY) used for school-level analysis.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18888" y="3858768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3858768"/>
            <a:ext cx="64008" cy="1188720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01768" y="4334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Handling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01768" y="4626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Poverty-by-race subgroup rates &gt;90% flagged — small sample size artifacts. Excluded from aggregated charts. School-level absenteeism join noted as incomplete (no school-level absence data).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Statewide Absence Severity —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011680" cy="98755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011680" cy="457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306,623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Enrolled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2" y="1261872"/>
            <a:ext cx="2011680" cy="98755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33472" y="1261872"/>
            <a:ext cx="2011680" cy="457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33472" y="1353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111,910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33472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Days (36.5%)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1261872"/>
            <a:ext cx="2011680" cy="98755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9744" y="1261872"/>
            <a:ext cx="2011680" cy="45720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1353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63,958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9744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Absent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86016" y="1261872"/>
            <a:ext cx="2011680" cy="98755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86016" y="1261872"/>
            <a:ext cx="201168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86016" y="1353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20.9%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86016" y="1792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Chronic Rate</a:t>
            </a:r>
            <a:endParaRPr lang="en-US" sz="9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95728"/>
            <a:ext cx="8229600" cy="2487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NDE Student Absences Counts 2020–21 | Chart: Nilesh Purnekar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of FRL% and Chronic Absent Rate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356616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 Absenteeism Distribution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9072"/>
            <a:ext cx="402336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261872"/>
            <a:ext cx="3977640" cy="356616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1353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FRL% Distribution Across Districts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19072"/>
            <a:ext cx="3840480" cy="2788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FRL%: mean=42.1%, median=41.5%, range 8.9–98.4%  |  Chronic rate: mean=11.1%, right-skewed, max=90.8% (outlier)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Type Distribution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3891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261872"/>
            <a:ext cx="3703320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0" y="1261872"/>
            <a:ext cx="64008" cy="361188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School Type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1773936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 Elementary schools (~78%) vs 186 Secondary (~22%)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not balanced — elementary schools dominate the sample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and secondary schools serve very different grade ranges and face different attendance dynamics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rates must be interpreted in the context of level — comparing raw rates across types requires caution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FRL% is similar across elementary and secondary schools — poverty is not isolated to one type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FRL by School dataset (frl_school.xls) — school-level analysis step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Absenteeism by Grade Level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5486400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261872"/>
            <a:ext cx="2606040" cy="349300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26480" y="1261872"/>
            <a:ext cx="64008" cy="3493008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1371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773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35.6%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12 — peak 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09360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13.1%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15200" y="23042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— lowest rate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09360" y="2724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2.7×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15200" y="2779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12 vs Grade 3 ratio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09360" y="3200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+4.8pp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0" y="3255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8→9 jump (largest)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309360" y="36758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~14%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315200" y="3730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avg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09360" y="41513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~28%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1520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avg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Grade 8→9 transition is the sharpest single-grade escalation — a high-priority intervention window.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Absenteeism by Race &amp; Tier Escalation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029200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 Rate by Race / Ethnicity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0784"/>
            <a:ext cx="4919472" cy="2871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23560" y="1261872"/>
            <a:ext cx="3063240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3533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Escalation by Grade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700784"/>
            <a:ext cx="2944368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3584448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 Indian 57.7% — 2.8× state avg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43.5%  |  Hispanic 31.4%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14.5% — but 28,850 students absolute (largest count)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grades 9–12 show steepest absolute counts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FRL% vs Chronic Absenteeism — District Level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548640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261872"/>
            <a:ext cx="2606040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26480" y="1261872"/>
            <a:ext cx="64008" cy="361188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1371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0.50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309360" y="23225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FRL% and chronic absent 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285292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Moderate-to-strong positive relationship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with higher poverty tend to have higher chronic absence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trend is consistent but not perfect — other factors also contribute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districts in merged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is the strongest single continuous predictor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FRL Group Comparison &amp; Density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Boxplot — Low / Medium / High FRL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0784"/>
            <a:ext cx="4005072" cy="2871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261872"/>
            <a:ext cx="3977640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135331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Hexbin Density — FRL% vs Chronic Rate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00784"/>
            <a:ext cx="3822192" cy="2871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Boxplot: median chronic rate shifts clearly upward from Low→High FRL. Hexbin: dense cluster at 30–60% FRL, 5–15% chronic rate.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Disadvantage &amp; Absenteeism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61872"/>
          <a:ext cx="5212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70448" y="1261872"/>
            <a:ext cx="2834640" cy="117043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70448" y="1261872"/>
            <a:ext cx="2834640" cy="45720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70448" y="13533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870448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vs non-poverty chronic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(34.7% vs 12.1%)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70448" y="2578608"/>
            <a:ext cx="2834640" cy="193852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70448" y="2578608"/>
            <a:ext cx="64008" cy="19385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53328" y="2688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53328" y="2999232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 of NE students carry a poverty flag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correlation with chronic rate: r = 0.50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&amp; race compound independently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is the strongest single predictor for modeling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Challenges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64008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35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COVID-Affected Year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 absence rates are elevated vs a typical year. Any year-over-year comparison must account for pandemic disruption.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8888" y="1261872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18888" y="1261872"/>
            <a:ext cx="64008" cy="1188720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335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01768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District-Level Join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01768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file is statewide aggregate only — cannot be merged with membership file at district level. Two datasets tell parallel, not connected, stories.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64008" cy="1188720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Causal Explanation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shows who is absent — not why. Transportation, illness, disengagement, and family circumstances are indistinguishable in this dataset.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2560320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18888" y="2560320"/>
            <a:ext cx="64008" cy="1188720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01768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Individual-Level Quantitative Data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01768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file provides only aggregated counts/percentages. Limited ability to run box plots, histograms, or scatter plots on this file alone without the FRL merge.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858768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858768"/>
            <a:ext cx="64008" cy="1188720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" y="4334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≠ Causation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4626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FRL% r=0.50 is meaningful but not deterministic. Multiple confounders (transportation, housing instability, school culture) are not captured.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18888" y="3858768"/>
            <a:ext cx="4114800" cy="118872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3858768"/>
            <a:ext cx="64008" cy="1188720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01768" y="4334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School-Level Merge Incomplete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01768" y="4626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school-level ID between absenteeism and FRL school files. School-type analysis could not be merged with absenteeism rates at the school level.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— What the Data Shows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02336" cy="78638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3350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5 students chronically absent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63,958 students (20.9%) miss ≥10% of the school year statewide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402336" cy="78638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2311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Absence nearly doubles K–12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low of 13.1%  →  Grade 12 high of 35.6%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402336" cy="7863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1272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8→9 is the key escalation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45643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single-grade jump — highest-ROI intervention window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402336" cy="786384"/>
          </a:xfrm>
          <a:prstGeom prst="rect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40233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FRL% is the strongest predictor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3525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r=0.50 correlation; high-FRL districts show 3× the chronic rate of low-FRL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18888" y="1261872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18888" y="1261872"/>
            <a:ext cx="402336" cy="786384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8888" y="1261872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21808" y="13350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Poverty triples chronic risk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1664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students: 34.7% vs non-poverty: 12.1% (2.9× ratio)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18888" y="2157984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2157984"/>
            <a:ext cx="402336" cy="7863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18888" y="2157984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21808" y="22311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Stark racial disparities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25603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 Indian 57.7%, Black 43.5%  vs  White 14.5%, Asian 12.1%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18888" y="3054096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18888" y="3054096"/>
            <a:ext cx="402336" cy="786384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18888" y="3054096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21808" y="31272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is a null finding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21808" y="345643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20.8% ≈ Male 20.9% — strengthens significance of other findings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18888" y="3950208"/>
            <a:ext cx="4114800" cy="786384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18888" y="3950208"/>
            <a:ext cx="402336" cy="78638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18888" y="3950208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321808" y="40233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Elementary schools dominate count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21808" y="43525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of schools are elementary — sample composition matters for comparisons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&amp; Intervention Roadmap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029968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029968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Enrichment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1481328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district-level absence data to enable full join with FRL &amp; membership 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09981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continuous FRL% to all aggregated tables (currently binary poverty flag only)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9867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NDE graduation &amp; dropout rates by grade and race for pipeline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33472" y="1261872"/>
            <a:ext cx="2029968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33472" y="1261872"/>
            <a:ext cx="2029968" cy="5486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33472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33472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Modeling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07792" y="2103120"/>
            <a:ext cx="1481328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classification model for high-risk district identification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09981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FRL%, race composition, grade distribution, school type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39867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decision tree, and gradient boosting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9744" y="1261872"/>
            <a:ext cx="2029968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9744" y="1261872"/>
            <a:ext cx="2029968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9744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9744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Targeting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84064" y="2103120"/>
            <a:ext cx="1481328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Grade 6–9 transition programs — highest-ROI window in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309981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Am. Indian + poverty and Black + poverty subgroups first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39867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metro resources: Douglas &amp; Lancaster counties drive statewide numbers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86016" y="1261872"/>
            <a:ext cx="2029968" cy="3611880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86016" y="1261872"/>
            <a:ext cx="2029968" cy="54864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86016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9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86016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Impact Report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60336" y="2103120"/>
            <a:ext cx="1481328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95744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NDE per-pupil expenditure to absence counts for funding loss estimates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95744" y="309981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dropout probability from chronic absenteeism rates by grade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95744" y="398678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lifetime earnings loss and lost state tax revenue (see next slide)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Chronic Absenteeism to Nebraska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74980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absenteeism is strongly linked to dropout. Our next phase will build a report quantifying how much Nebraska loses when chronically absent students fail to complete school.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2651760" cy="263347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651760" cy="54864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Dropout Risk Pathway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236976"/>
            <a:ext cx="2194560" cy="0"/>
          </a:xfrm>
          <a:prstGeom prst="line">
            <a:avLst/>
          </a:prstGeom>
          <a:noFill/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284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absence → increased dropout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8039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 of chronically absent students do not graduate on time (national research)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793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63,958 chronically absent NE students × 17% estimated dropout rate = ~10,900 at-risk students per cohort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212848"/>
            <a:ext cx="2651760" cy="263347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2212848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2798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Lifetime Earnings Loss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3236976"/>
            <a:ext cx="2194560" cy="0"/>
          </a:xfrm>
          <a:prstGeom prst="line">
            <a:avLst/>
          </a:prstGeom>
          <a:noFill/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33284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dropout earns ~$28,000/yr vs ~$40,000/yr for a diploma holder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8039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gap: ~$400,000 per dropout (Census Bureau, 2023)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2793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10,900 at-risk students × $400K = ~$4.36 billion lifetime earnings at stake per cohort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212848"/>
            <a:ext cx="2651760" cy="263347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2212848"/>
            <a:ext cx="2651760" cy="54864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2798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Revenue Impact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3236976"/>
            <a:ext cx="2194560" cy="0"/>
          </a:xfrm>
          <a:prstGeom prst="line">
            <a:avLst/>
          </a:prstGeom>
          <a:noFill/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33284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income tax rate ~5.84% (flat, 2024)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8039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lifetime gap × 5.84% = ~$23,360 in lost state taxes per dropout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42793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10,900 dropouts × $23,360 = ~$255 million in projected lost state revenue per cohort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based on: US Census Bureau (2023), NDE per-pupil data, Nebraska DOR tax rate. Cohort = one year's chronically absent students.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Impact Report: Scope &amp; Data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633472" cy="117043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633472" cy="54864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9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~$255M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lost NE state revenue per cohort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61872"/>
            <a:ext cx="2633472" cy="117043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C83030"/>
          </a:solidFill>
          <a:ln w="12700">
            <a:solidFill>
              <a:srgbClr val="C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35331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~10,900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per cohort (17% of 63,958)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61872"/>
            <a:ext cx="2633472" cy="1170432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261872"/>
            <a:ext cx="263347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35331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~$4.4B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earnings at stake per cohort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4069080" cy="221284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33472"/>
            <a:ext cx="64008" cy="221284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 Needed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072384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NDE: Annual dropout rates by district, grade, and race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Census Bureau: Nebraska median earnings by education level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DOR: Current income tax schedule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NDE: Per-pupil state aid formula (attendance-based funding)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BLS: Nebraska labor force participation by education level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4069080" cy="2212848"/>
          </a:xfrm>
          <a:prstGeom prst="rect">
            <a:avLst/>
          </a:prstGeom>
          <a:solidFill>
            <a:srgbClr val="102040"/>
          </a:solidFill>
          <a:ln w="762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633472"/>
            <a:ext cx="64008" cy="2212848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Sections Planned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072384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Who is chronically absent &amp; likely to drop out (by race, grade, poverty)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Per-student and statewide lifetime earnings loss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Lost state income tax revenue projections (10yr, 20yr, lifetime)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ROI of intervention — cost to reduce absenteeism vs revenue saved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provide Nebraska policymakers a dollar figure for the cost of inaction on chronic absenteeism.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summary: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2020–21, 1 in 5 Nebraska K–12 students was chronically absent — with poverty and race amplifying that risk by nearly 3×, and an estimated $255M in state revenue at stake per graduating cohort."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 |  DSCI 8950 Capstone  |  Nebraska Dept of Education 2020–21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Purnekar   ·   Abhinav Adhikari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0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NDE Data &amp; Information Archives  |  nde.ne.gov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2098</Words>
  <Application>Microsoft Office PowerPoint</Application>
  <PresentationFormat>On-screen Show (16:9)</PresentationFormat>
  <Paragraphs>303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Nebraska Chronic Absenteeism EDA — Team B Final</dc:title>
  <dc:subject>PptxGenJS Presentation</dc:subject>
  <dc:creator>Abhinav Adhikari</dc:creator>
  <cp:lastModifiedBy>Abhinav Adhikari</cp:lastModifiedBy>
  <cp:revision>3</cp:revision>
  <dcterms:created xsi:type="dcterms:W3CDTF">2026-02-24T18:50:10Z</dcterms:created>
  <dcterms:modified xsi:type="dcterms:W3CDTF">2026-02-24T19:03:28Z</dcterms:modified>
</cp:coreProperties>
</file>