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92" y="2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389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54864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3200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DSCI 8950  ·  Mid-Semester ML Progress  ·  Team 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858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K–12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8600" y="1325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Chronic Absenteeism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938528"/>
            <a:ext cx="4572000" cy="0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2103120"/>
            <a:ext cx="4160520" cy="128016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Adhikari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prediction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panel  ·  Decision Tree + XGBoost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1,501 observations  ·  R² = 0.946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4160520" cy="12801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1762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Purnekar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5786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prediction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year  ·  Linear Reg + Random Forest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schools  ·  R² = 0.271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" y="35478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use the same NDE data at different scales — district vs school — to answer the same research question.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" y="46634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nbviewer.org/github/abhadhikariuno/SP_2026_Team-B/blob/main/Nebraska_ML_Notebook_v1.ipynb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— What Both Analyses Answer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EEF4FF"/>
          </a:solidFill>
          <a:ln w="635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socioeconomic and school-level factors predict chronic absenteeism in Nebraska K–12 — and which factors matter most?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160520" cy="292608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16052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Abhinav's 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 ·  7 years  ·  Decision Tree + XGBoost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Nebraska school district in one year
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CHRONIC_RATE (% absent 10%+ of year)
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 absence + FRL files, 2018-19 to 2024-25
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a district's chronic rate a year in advance?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4160520" cy="292608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16052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7647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Nilesh's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 ·  Single year  ·  Linear Reg + Random Forest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Nebraska school in 2020-21
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students with 20+ total absence days
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FRL + absence merge (637 schools)
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FRL% and enrollment predict school-level absence?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Two Scales, Same Source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320040"/>
          </a:xfrm>
          <a:prstGeom prst="rect">
            <a:avLst/>
          </a:prstGeom>
          <a:solidFill>
            <a:srgbClr val="FFFDE7"/>
          </a:solidFill>
          <a:ln w="63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draw from Nebraska Department of Education (NDE) public data — the same source at two different levels of aggregation.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60520" cy="342900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4160520" cy="3200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— District-Level Panel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737360"/>
            <a:ext cx="1828800" cy="5486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23160" y="1737360"/>
            <a:ext cx="1828800" cy="5486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2316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395728"/>
            <a:ext cx="1828800" cy="54864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2734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395728"/>
            <a:ext cx="1828800" cy="54864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23160" y="2734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2018-19  ·  2019-20  ·  2020-21 (COVID)  ·  2021-22  ·  2022-23  ·  2023-24  ·  2024-25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features: FRL%, absence rates, HS enrollment share, district size, urban flag, year index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CHRONIC_RATE (absent 10%+ of year / membership)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 files matched per year for each absence file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325880"/>
            <a:ext cx="4160520" cy="342900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16052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1325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— School-Level Single Year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737360"/>
            <a:ext cx="182880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5488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1737360"/>
            <a:ext cx="182880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6656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2395728"/>
            <a:ext cx="182880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754880" y="2734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66560" y="2395728"/>
            <a:ext cx="182880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66560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766560" y="2734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FRL%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0600" y="30632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covered: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2020-21 only (merged FRL school file + chronic absence file)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584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features: FRL_PERCENT, ENROLLED, MEMBERSHIP, PERCENT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3931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% students with 20+ total absence days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42245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FRL_PERCENT and PERCENT are the same signal at different scales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How Each Analysis Was Built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3200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62456"/>
            <a:ext cx="347472" cy="34747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1399032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399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— stratified by year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" y="1728216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984248"/>
            <a:ext cx="347472" cy="347472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2020824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020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training set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" y="2350008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347472" cy="34747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2642616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2642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depth sweep + 120-combo GridSearch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" y="2971800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227832"/>
            <a:ext cx="347472" cy="347472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3264408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216-combo GridSearch (lr, depth, subsample)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" y="3593592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849624"/>
            <a:ext cx="347472" cy="347472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" y="3886200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test-set eval at the end — never touched during tuning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914400"/>
            <a:ext cx="416052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9144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1362456"/>
            <a:ext cx="347472" cy="34747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84648" y="1399032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57800" y="1399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target: '*' symbols removed, NaN dropped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24044" y="1728216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1984248"/>
            <a:ext cx="347472" cy="34747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84648" y="2020824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57800" y="2020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— 264 train / 67 test (random_state=42)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24044" y="2350008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54880" y="2606040"/>
            <a:ext cx="347472" cy="34747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84648" y="2642616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57800" y="2642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no tuning, fixed baseline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24044" y="2971800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54880" y="3227832"/>
            <a:ext cx="347472" cy="34747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5488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84648" y="3264408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25780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no depth limit (revealed overfitting)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24044" y="3593592"/>
            <a:ext cx="0" cy="237744"/>
          </a:xfrm>
          <a:prstGeom prst="line">
            <a:avLst/>
          </a:prstGeom>
          <a:noFill/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54880" y="3849624"/>
            <a:ext cx="347472" cy="347472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184648" y="3886200"/>
            <a:ext cx="3520440" cy="27432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5780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5-fold CV + GridSearchCV (depth, n_trees)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Evaluation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diving into results — here is what each metric means and how to read them: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97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how far off each prediction is from the actual value — ignoring direction.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633472"/>
            <a:ext cx="256032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avg( |actual − predicted| 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31089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MAE = 0.056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Predictions are off by ~5.6 percentage points on average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097280"/>
            <a:ext cx="2697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1097280"/>
            <a:ext cx="269748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18688" y="1097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64408" y="1600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920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MAE but penalises large errors more heavily — squaring errors before averaging makes big mistakes count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633472"/>
            <a:ext cx="256032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√( avg( (actual − predicted)² ) 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1089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RMSE = 0.069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Sensitive to outlier schools with extreme absenteeism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≥ MAE always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2697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1600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(Coefficient of Determination)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920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variation in absenteeism is explained by the model. Ranges from −∞ to 1.0.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633472"/>
            <a:ext cx="256032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(SS_res / SS_tot)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31089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R²=1.0 → perfect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R²=0.0 → no better than mean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R²&lt;0 → worse than mean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best: R²=0.271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explains 27.1%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absenteeism variance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 ✓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District-Level Prediction (Abhinav)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panel  ·  Decision Tree + XGBoost  ·  1,501 observations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88452" y="91440"/>
            <a:ext cx="818388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88452" y="91440"/>
            <a:ext cx="818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without 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(tuned)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after regularisation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out of the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generalises across all 7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2999232"/>
            <a:ext cx="4114800" cy="1417320"/>
          </a:xfrm>
          <a:prstGeom prst="rect">
            <a:avLst/>
          </a:prstGeom>
          <a:solidFill>
            <a:srgbClr val="EEF4FF"/>
          </a:solidFill>
          <a:ln w="6350">
            <a:solidFill>
              <a:srgbClr val="2D7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1.72% RMSE means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district's actual chronic rate is 18%, the model predicts somewhere between 16.3% and 19.7%. Accurate enough to rank 240 districts by risk.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2999232"/>
            <a:ext cx="4160520" cy="1417320"/>
          </a:xfrm>
          <a:prstGeom prst="rect">
            <a:avLst/>
          </a:prstGeom>
          <a:solidFill>
            <a:srgbClr val="EDFAF4"/>
          </a:solidFill>
          <a:ln w="6350">
            <a:solidFill>
              <a:srgbClr val="1A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3072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0.90 in every single year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33832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2018-19: 0.91  ·  2019-20: 0.92  ·  2020-21: 0.93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2021-22: 0.94  ·  2022-23: 0.95  ·  2023-24: 0.93  ·  2024-25: 0.94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generalises across pre-COVID, peak, and recovery years.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School-Level Prediction (Nilesh)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year (2020-21)  ·  Linear Regression + Random Forest  ·  637 schools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simple, interpretable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— unlimited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improvement via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0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RF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0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0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0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0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max_depth=5, n_estimators=200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2999232"/>
            <a:ext cx="4114800" cy="1417320"/>
          </a:xfrm>
          <a:prstGeom prst="rect">
            <a:avLst/>
          </a:prstGeom>
          <a:solidFill>
            <a:srgbClr val="F3E5F5"/>
          </a:solidFill>
          <a:ln w="635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R² = 0.271 is meaningful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schools with only 4 features — many unmeasured factors (school climate, teacher quality, demographics) aren't captured. 27% explained variance from poverty + enrollment alone is a real signal.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2999232"/>
            <a:ext cx="4160520" cy="1417320"/>
          </a:xfrm>
          <a:prstGeom prst="rect">
            <a:avLst/>
          </a:prstGeom>
          <a:solidFill>
            <a:srgbClr val="FFF8E7"/>
          </a:solidFill>
          <a:ln w="63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3072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finding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33832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scores across 5 folds: 0.225 | 0.197 | −0.537 | 0.241 | 0.057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tells us schools are heterogeneous — some clusters of schools behave very differently from the others. One bad fold (R²=−0.537) shows the model still struggles on certain school types.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Absenteeism?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3200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— XGBoost Importances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Day Rate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10512" y="1380744"/>
            <a:ext cx="145938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5614" y="1380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Day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10512" y="1883664"/>
            <a:ext cx="97292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29154" y="1883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(Poverty)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2386584"/>
            <a:ext cx="486461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42693" y="2386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(trend)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10512" y="2889504"/>
            <a:ext cx="138989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95221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Enroll 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10512" y="3392424"/>
            <a:ext cx="104242" cy="256032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60474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133088"/>
            <a:ext cx="4160520" cy="512064"/>
          </a:xfrm>
          <a:prstGeom prst="rect">
            <a:avLst/>
          </a:prstGeom>
          <a:solidFill>
            <a:srgbClr val="EEF4FF"/>
          </a:solidFill>
          <a:ln w="635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is the most important predictor available BEFORE the school year starts. The absence rates (10+, 15+) are strong but only available at year-end.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16052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9144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— Tuned RF Importances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FRL_PERCENT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53912" y="1380744"/>
            <a:ext cx="1806854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06486" y="13807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53912" y="1975104"/>
            <a:ext cx="97292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72554" y="1975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53912" y="2569464"/>
            <a:ext cx="41696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16598" y="2569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53912" y="3163824"/>
            <a:ext cx="277978" cy="256032"/>
          </a:xfrm>
          <a:prstGeom prst="rect">
            <a:avLst/>
          </a:prstGeom>
          <a:solidFill>
            <a:srgbClr val="8A9AB5"/>
          </a:solidFill>
          <a:ln w="12700">
            <a:solidFill>
              <a:srgbClr val="8A9A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761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886200"/>
            <a:ext cx="4160520" cy="758952"/>
          </a:xfrm>
          <a:prstGeom prst="rect">
            <a:avLst/>
          </a:prstGeom>
          <a:solidFill>
            <a:srgbClr val="F3E5F5"/>
          </a:solidFill>
          <a:ln w="635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3913632"/>
            <a:ext cx="3886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FRL_PERCENT and PERCENT represent the same poverty signal at different scales (e.g. 55.6 vs 0.556). Combined they account for ~80% of importance — strongly confirming that poverty drives school-level absenteeism.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Insight — What Both Analyses Agree 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182880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0574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77440" y="960120"/>
            <a:ext cx="20574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05156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is the dominant driver at both scales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417320"/>
            <a:ext cx="38953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Abhinav: FRL% is the #1 advance predictor at district level (r=0.73).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Nilesh: FRL_PERCENT accounts for 52% of importance at school level.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finding, two levels of data, two different model families.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182880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20574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20574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05156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overfit without constraints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1417320"/>
            <a:ext cx="38953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Abhinav: default DT gives R²=0.88 train vs 0.88 test — gap confirms overfitting.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Nilesh: default DT gives R²=−0.282 on test — complete failure without depth limits.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independently confirm: depth limits and regularisation are essential.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182880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0574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77440" y="2926080"/>
            <a:ext cx="20574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301752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outperform single trees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3383280"/>
            <a:ext cx="38953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Abhinav: XGBoost (tuned) R²=0.946 vs DT (tuned) R²=0.939.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Nilesh: Tuned RF R²=0.271 vs DT R²=−0.282.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many trees consistently reduces overfitting and improves generalisation.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114800" cy="182880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20574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20840" y="2926080"/>
            <a:ext cx="20574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301752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R² values differ so much (0.946 vs 0.271)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3383280"/>
            <a:ext cx="38953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scales, not different quality. District averages smooth out individual variation — easier to predict. School-level data has more noise per observation. Both results are meaningful for their scope.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What Each Analysis Cannot Do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29260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160520" cy="107899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54864" cy="10789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rates are year-end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ABS10 and ABS15 come from the same annual report as the target — can't be used for true advance prediction. True early-warning relies on FRL%, year, and HS% only (R²≈0.62).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107899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54864" cy="10789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rank 240 districts by risk but cannot identify individual at-risk schools or students within a district.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160520" cy="107899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54864" cy="10789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FRL file used for all 7 years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 FRL applied to all years. Reasonable since poverty changes slowly, but matched-year files are now available.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6052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914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280160"/>
            <a:ext cx="4160520" cy="107899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54864" cy="10789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1335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overall R² (0.271)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64592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features used — school climate, attendance policy, teacher quality, and student demographics are missing. Many factors driving absenteeism aren't captured.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4160520" cy="107899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2468880"/>
            <a:ext cx="54864" cy="10789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5237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CV variance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 R²=−0.537 shows some school clusters behave very differently. Data is heterogeneous — a single model may not fit all school types equally.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160520" cy="107899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657600"/>
            <a:ext cx="54864" cy="10789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712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School-level, not student-level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0233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masks individual student variation. Cannot identify which specific students are at risk within a school.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What Comes After This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6176" y="91440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758952" cy="21945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lagged feature (Abhinav)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each district's prior-year chronic rate as a predictor. Year-over-year r=0.88. Most impactful single addition — now feasible with 7 consecutive years.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758952" cy="21945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051560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91840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Advance-only model (Abhinav)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using only FRL%, year, HS%, urban flag — data available before the school year starts. This is the deployable early-warning version.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676656" cy="21945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105156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72200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 (Nilesh)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race composition, grade distribution, school type — factors identified as significant in the EDA. Could push R² substantially beyond 0.271.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880360"/>
            <a:ext cx="27432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2971800"/>
            <a:ext cx="676656" cy="21945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29718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school analysis (Nilesh)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3611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school-level analysis to multiple years using the same 7-year data Abhinav assembled. Would allow cross-year comparison at school scale.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880360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2971800"/>
            <a:ext cx="512064" cy="219456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91840" y="29718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91840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high-residual districts/schools (Both)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91840" y="3611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observations where actual absence far exceeds predictions. These are cases where poverty alone doesn't explain the problem — most actionable for intervention.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2880360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2880360"/>
            <a:ext cx="2743200" cy="54864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2971800"/>
            <a:ext cx="512064" cy="219456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29718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72200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interpretations + export PDF (Both)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611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 section needs 1–2 paragraphs connecting results to the research question. Required by the rubric. Then nbconvert to final PDF.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March 2026  ·  University of Nebraska Omaha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64008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36576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predicts absenteeism — at every scale.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" y="1417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— district-level (Abhinav) and school-level (Nilesh) — independently confirm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FRL% (poverty) is the dominant driver of chronic absenteeism in Nebraska K–12.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176272"/>
            <a:ext cx="863193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2331720"/>
            <a:ext cx="4114800" cy="150876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— District Level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7249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1.72pp  ·  R² = 0.946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  ·  240 districts  ·  1,501 observations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3168" y="2331720"/>
            <a:ext cx="4114800" cy="1508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01184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— School Level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01184" y="27249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0.049  ·  R² = 0.271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 ·  637 schools  ·  4 features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" y="44348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nbviewer.org/github/abhadhikariuno/SP_2026_Team-B/blob/main/Nebraska_ML_Notebook_v1.ipynb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47365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DSCI 8950 Capstone  ·  Abhinav Adhikari  &amp;  Nilesh Purnekar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2085</Words>
  <Application>Microsoft Macintosh PowerPoint</Application>
  <PresentationFormat>On-screen Show (16:9)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Nebraska Absenteeism ML — Team B</dc:title>
  <dc:subject>PptxGenJS Presentation</dc:subject>
  <dc:creator>Team B — DSCI 8950</dc:creator>
  <cp:lastModifiedBy>Nilesh Purnekar</cp:lastModifiedBy>
  <cp:revision>2</cp:revision>
  <dcterms:created xsi:type="dcterms:W3CDTF">2026-03-31T09:59:55Z</dcterms:created>
  <dcterms:modified xsi:type="dcterms:W3CDTF">2026-03-31T14:28:37Z</dcterms:modified>
</cp:coreProperties>
</file>